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84312"/>
  </p:normalViewPr>
  <p:slideViewPr>
    <p:cSldViewPr snapToGrid="0" snapToObjects="1">
      <p:cViewPr>
        <p:scale>
          <a:sx n="117" d="100"/>
          <a:sy n="117" d="100"/>
        </p:scale>
        <p:origin x="11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61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 6000C · WEEK 7 MIDTERM MILESTONE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F.I.X.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Inventory Exceptions: a working vertical slice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· CAO, Jun · SHAH, Pooja Zenit · ZHANG, Yitong · ZHOU, Guanxu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github.com/ShawnZhang0318/FIX_dashboard  ·  tag: w07-midterm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vertical slice, end to end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imports daily sales, requests an analysis, a background worker calls a LightGBM model, and the planner reviews the saved exceptions.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210312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um0"/>
          <p:cNvSpPr/>
          <p:nvPr/>
        </p:nvSpPr>
        <p:spPr>
          <a:xfrm>
            <a:off x="594360" y="224028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43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enters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and analysis request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2121408" y="210312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1"/>
          <p:cNvSpPr/>
          <p:nvPr/>
        </p:nvSpPr>
        <p:spPr>
          <a:xfrm>
            <a:off x="2258568" y="224028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258568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258568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persisted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258568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queued, Job pending, in the database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258568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3785616" y="210312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um2"/>
          <p:cNvSpPr/>
          <p:nvPr/>
        </p:nvSpPr>
        <p:spPr>
          <a:xfrm>
            <a:off x="3922776" y="224028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922776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922776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step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922776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 claims the job and calls AI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922776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5449824" y="210312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num3"/>
          <p:cNvSpPr/>
          <p:nvPr/>
        </p:nvSpPr>
        <p:spPr>
          <a:xfrm>
            <a:off x="5586984" y="224028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586984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586984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saved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586984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Forecasts, exceptions and review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586984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7114032" y="210312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num4"/>
          <p:cNvSpPr/>
          <p:nvPr/>
        </p:nvSpPr>
        <p:spPr>
          <a:xfrm>
            <a:off x="7251192" y="2240280"/>
            <a:ext cx="411480" cy="41148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25119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251192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logs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251192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checks and correlated logs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251192" y="3611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S001 · 20 products · manual Daily analysis · advisory only (no purchase orders, inventory unchanged by review)</a:t>
            </a:r>
            <a:endParaRPr lang="en-US" sz="14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of the slice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box CSV importer"/>
          <p:cNvSpPr/>
          <p:nvPr/>
        </p:nvSpPr>
        <p:spPr>
          <a:xfrm>
            <a:off x="457200" y="1920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30352" y="19751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1945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batches ≤100</a:t>
            </a:r>
            <a:endParaRPr lang="en-US" sz="1000" dirty="0"/>
          </a:p>
        </p:txBody>
      </p:sp>
      <p:sp>
        <p:nvSpPr>
          <p:cNvPr id="9" name="box React dashboard"/>
          <p:cNvSpPr/>
          <p:nvPr/>
        </p:nvSpPr>
        <p:spPr>
          <a:xfrm>
            <a:off x="457200" y="26974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30352" y="2752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297180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简体中文</a:t>
            </a:r>
            <a:endParaRPr lang="en-US" sz="1000" dirty="0"/>
          </a:p>
        </p:txBody>
      </p:sp>
      <p:sp>
        <p:nvSpPr>
          <p:cNvPr id="12" name="box Public API"/>
          <p:cNvSpPr/>
          <p:nvPr/>
        </p:nvSpPr>
        <p:spPr>
          <a:xfrm>
            <a:off x="2560320" y="192024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633472" y="1975104"/>
            <a:ext cx="15910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33472" y="2583180"/>
            <a:ext cx="159105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validates, freezes inputs, returns 202</a:t>
            </a:r>
            <a:endParaRPr lang="en-US" sz="1000" dirty="0"/>
          </a:p>
        </p:txBody>
      </p:sp>
      <p:sp>
        <p:nvSpPr>
          <p:cNvPr id="15" name="database"/>
          <p:cNvSpPr/>
          <p:nvPr/>
        </p:nvSpPr>
        <p:spPr>
          <a:xfrm>
            <a:off x="2560320" y="3657600"/>
            <a:ext cx="1737360" cy="868680"/>
          </a:xfrm>
          <a:prstGeom prst="can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56032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(demo) / PostgreSQL</a:t>
            </a:r>
            <a:endParaRPr lang="en-US" sz="1000" dirty="0"/>
          </a:p>
        </p:txBody>
      </p:sp>
      <p:sp>
        <p:nvSpPr>
          <p:cNvPr id="18" name="box Worker"/>
          <p:cNvSpPr/>
          <p:nvPr/>
        </p:nvSpPr>
        <p:spPr>
          <a:xfrm>
            <a:off x="5029200" y="36576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102352" y="3712464"/>
            <a:ext cx="13167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102352" y="4091940"/>
            <a:ext cx="131673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process</a:t>
            </a:r>
            <a:endParaRPr lang="en-US" sz="1000" dirty="0"/>
          </a:p>
        </p:txBody>
      </p:sp>
      <p:sp>
        <p:nvSpPr>
          <p:cNvPr id="21" name="box AI service"/>
          <p:cNvSpPr/>
          <p:nvPr/>
        </p:nvSpPr>
        <p:spPr>
          <a:xfrm>
            <a:off x="7132320" y="3657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05472" y="3712464"/>
            <a:ext cx="14081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05472" y="4091940"/>
            <a:ext cx="140817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LightGBM</a:t>
            </a:r>
            <a:endParaRPr lang="en-US" sz="1000" dirty="0"/>
          </a:p>
        </p:txBody>
      </p:sp>
      <p:sp>
        <p:nvSpPr>
          <p:cNvPr id="24" name="arrow"/>
          <p:cNvSpPr/>
          <p:nvPr/>
        </p:nvSpPr>
        <p:spPr>
          <a:xfrm>
            <a:off x="2194560" y="2194560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"/>
          <p:cNvSpPr/>
          <p:nvPr/>
        </p:nvSpPr>
        <p:spPr>
          <a:xfrm>
            <a:off x="2194560" y="2971800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arrow"/>
          <p:cNvSpPr/>
          <p:nvPr/>
        </p:nvSpPr>
        <p:spPr>
          <a:xfrm>
            <a:off x="3429000" y="3246120"/>
            <a:ext cx="0" cy="4114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ow"/>
          <p:cNvSpPr/>
          <p:nvPr/>
        </p:nvSpPr>
        <p:spPr>
          <a:xfrm>
            <a:off x="4297680" y="4087368"/>
            <a:ext cx="7315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arrow"/>
          <p:cNvSpPr/>
          <p:nvPr/>
        </p:nvSpPr>
        <p:spPr>
          <a:xfrm>
            <a:off x="6492240" y="4087368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card"/>
          <p:cNvSpPr/>
          <p:nvPr/>
        </p:nvSpPr>
        <p:spPr>
          <a:xfrm>
            <a:off x="4663440" y="12801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169164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 are the durable job queue — no Redis or Celery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replies 202 immediately; the user never waits for AI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commits its claim before calling the model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forecasts cumulative sales over each product’s lead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the model, create exception cases</a:t>
            </a:r>
            <a:endParaRPr lang="en-US" sz="11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18481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 · INPUT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 enters the system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checks the source CSV’s SHA-256 hash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14,620 S001 observations to the public API, batches of ≤100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14,620 verified · 14,620 inserted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API now returns 20 products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planner requests an analysis:</a:t>
            </a:r>
            <a:endParaRPr lang="en-US" sz="1300" dirty="0"/>
          </a:p>
        </p:txBody>
      </p:sp>
      <p:sp>
        <p:nvSpPr>
          <p:cNvPr id="8" name="code-box"/>
          <p:cNvSpPr/>
          <p:nvPr/>
        </p:nvSpPr>
        <p:spPr>
          <a:xfrm>
            <a:off x="45720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436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/analysis-runs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{"store_id":"S001","run_type":"daily",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"as_of_date":"2023-11-15"}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8A9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C12A9D-862B-4A01-CC83-9F08FB84450D}"/>
              </a:ext>
            </a:extLst>
          </p:cNvPr>
          <p:cNvGrpSpPr/>
          <p:nvPr/>
        </p:nvGrpSpPr>
        <p:grpSpPr>
          <a:xfrm>
            <a:off x="5120640" y="421767"/>
            <a:ext cx="3657600" cy="722376"/>
            <a:chOff x="5029200" y="1749847"/>
            <a:chExt cx="3657600" cy="722376"/>
          </a:xfrm>
        </p:grpSpPr>
        <p:sp>
          <p:nvSpPr>
            <p:cNvPr id="12" name="Text 9"/>
            <p:cNvSpPr txBox="1"/>
            <p:nvPr/>
          </p:nvSpPr>
          <p:spPr>
            <a:xfrm>
              <a:off x="5029200" y="1749847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E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Importer terminal output</a:t>
              </a:r>
              <a:endParaRPr lang="en-US" sz="1400" dirty="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5029200" y="2015023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“14620 verified rows, 14620 inserted rows”</a:t>
              </a: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5B6B85"/>
                  </a:solidFill>
                  <a:latin typeface="Calibri" pitchFamily="34" charset="0"/>
                  <a:cs typeface="Calibri" pitchFamily="34" charset="-120"/>
                </a:rPr>
                <a:t>(This output shows 0 inserted rows because it has been inserted once before)</a:t>
              </a:r>
              <a:endParaRPr lang="en-US" sz="9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AD2C7C-16EA-BDAB-4148-A4C9358D8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83" t="47340" r="9788" b="35281"/>
          <a:stretch>
            <a:fillRect/>
          </a:stretch>
        </p:blipFill>
        <p:spPr>
          <a:xfrm>
            <a:off x="4480560" y="1010060"/>
            <a:ext cx="4663440" cy="800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7FFDA2-8473-6CD3-EDE2-5DA16609E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05929"/>
            <a:ext cx="4023360" cy="22255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2B0BEE3-07AE-0229-1895-4D8D71A81B98}"/>
              </a:ext>
            </a:extLst>
          </p:cNvPr>
          <p:cNvGrpSpPr/>
          <p:nvPr/>
        </p:nvGrpSpPr>
        <p:grpSpPr>
          <a:xfrm>
            <a:off x="4983480" y="1941871"/>
            <a:ext cx="3657600" cy="709889"/>
            <a:chOff x="4865664" y="318811"/>
            <a:chExt cx="3657600" cy="709889"/>
          </a:xfrm>
        </p:grpSpPr>
        <p:sp>
          <p:nvSpPr>
            <p:cNvPr id="16" name="Text 13"/>
            <p:cNvSpPr txBox="1"/>
            <p:nvPr/>
          </p:nvSpPr>
          <p:spPr>
            <a:xfrm>
              <a:off x="4865664" y="318811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E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Inventory page</a:t>
              </a:r>
              <a:endParaRPr lang="en-US" sz="14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4865664" y="57150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 S001 products loaded from the database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 · PERSISTED STATE CHANGE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is persisted before any AI runs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checks coverage: all 20 cutoff snapshots and 29 days of history per product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saves the queued Run, the pending Job and the frozen inputs (model, policy, snapshot references)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202 returns both IDs; the database now holds the work</a:t>
            </a:r>
            <a:endParaRPr lang="en-US" sz="1400" dirty="0"/>
          </a:p>
        </p:txBody>
      </p:sp>
      <p:sp>
        <p:nvSpPr>
          <p:cNvPr id="7" name="code-box"/>
          <p:cNvSpPr/>
          <p:nvPr/>
        </p:nvSpPr>
        <p:spPr>
          <a:xfrm>
            <a:off x="457200" y="3611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"analysis_run": {"id": "&lt;run-id&gt;",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"status": "queued"},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"job": {"id": "&lt;job-id&gt;",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"status": "pending"} 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520B31-8BEC-2FA3-533D-4AD62A5DF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1383744"/>
            <a:ext cx="4023360" cy="2214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59EC4EA-485E-F27E-BA4C-C7CC84101EFA}"/>
              </a:ext>
            </a:extLst>
          </p:cNvPr>
          <p:cNvGrpSpPr/>
          <p:nvPr/>
        </p:nvGrpSpPr>
        <p:grpSpPr>
          <a:xfrm>
            <a:off x="4960620" y="3712036"/>
            <a:ext cx="3657600" cy="745664"/>
            <a:chOff x="4892040" y="2697480"/>
            <a:chExt cx="3657600" cy="745664"/>
          </a:xfrm>
        </p:grpSpPr>
        <p:sp>
          <p:nvSpPr>
            <p:cNvPr id="11" name="Text 8"/>
            <p:cNvSpPr txBox="1"/>
            <p:nvPr/>
          </p:nvSpPr>
          <p:spPr>
            <a:xfrm>
              <a:off x="4892040" y="269748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E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 page after submit</a:t>
              </a:r>
              <a:endParaRPr lang="en-US" sz="14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4892040" y="2985944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Showing Product ID, Stock on Hand, Forecast Horizon and more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9CA2576-FBFC-2EAA-1AC8-A55B2CE940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17" t="29284" r="1991" b="36161"/>
          <a:stretch>
            <a:fillRect/>
          </a:stretch>
        </p:blipFill>
        <p:spPr>
          <a:xfrm>
            <a:off x="5449029" y="2996906"/>
            <a:ext cx="2926080" cy="18020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3 · ASYNCHRONOUS WORKER STEP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separate worker runs the analysis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Claim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processing, Job → claimed; committed first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1856232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947672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947672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29-day history and cutoff stock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3255264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346704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Features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46704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means, lead time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54296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745736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Call AI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45736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/analyze returns P50 and P90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53328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144768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Policy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44768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and unusual-demand rules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452360" y="1280160"/>
            <a:ext cx="1280160" cy="1691640"/>
          </a:xfrm>
          <a:prstGeom prst="roundRect">
            <a:avLst>
              <a:gd name="adj" fmla="val 5714"/>
            </a:avLst>
          </a:prstGeom>
          <a:solidFill>
            <a:srgbClr val="FFF6DA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5438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Save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optional case, atomic per product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035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2–6 repeat for each of the 20 products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committed before the model call — no long database transaction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saved after every product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later product fails, earlier results stay saved</a:t>
            </a:r>
            <a:endParaRPr lang="en-US" sz="13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DB5A25-B17B-9400-C05D-56A89EE3F711}"/>
              </a:ext>
            </a:extLst>
          </p:cNvPr>
          <p:cNvGrpSpPr/>
          <p:nvPr/>
        </p:nvGrpSpPr>
        <p:grpSpPr>
          <a:xfrm>
            <a:off x="5843016" y="4169011"/>
            <a:ext cx="3675888" cy="741317"/>
            <a:chOff x="5604761" y="4266656"/>
            <a:chExt cx="3675888" cy="741317"/>
          </a:xfrm>
        </p:grpSpPr>
        <p:sp>
          <p:nvSpPr>
            <p:cNvPr id="28" name="Text 25"/>
            <p:cNvSpPr txBox="1"/>
            <p:nvPr/>
          </p:nvSpPr>
          <p:spPr>
            <a:xfrm>
              <a:off x="5604761" y="4266656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E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 in “processing”</a:t>
              </a:r>
              <a:endParaRPr lang="en-US" sz="1400" dirty="0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5623049" y="4550773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Progress count + worker log line</a:t>
              </a:r>
              <a:endParaRPr lang="en-US" sz="1100" dirty="0"/>
            </a:p>
          </p:txBody>
        </p:sp>
      </p:grp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9FCFCDC-B60A-4E89-ACF8-F382DCD23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69934"/>
            <a:ext cx="4251960" cy="23406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4 · PERSISTED OUTPUT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and exceptions are saved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 · P0001 · cutoff 2023-11-15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424.04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forecast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648.03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forecast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at cutoff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2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567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order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= ⌈max(0, P90 − stock)⌉ = ⌈648.03 − 82⌉ = 567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sales over the product’s lead time. Recorded local acceptance run.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A54588-5049-D503-6BEC-7B65074D9B83}"/>
              </a:ext>
            </a:extLst>
          </p:cNvPr>
          <p:cNvGrpSpPr/>
          <p:nvPr/>
        </p:nvGrpSpPr>
        <p:grpSpPr>
          <a:xfrm>
            <a:off x="5029200" y="3410625"/>
            <a:ext cx="3657600" cy="713232"/>
            <a:chOff x="4892040" y="2240280"/>
            <a:chExt cx="3657600" cy="713232"/>
          </a:xfrm>
        </p:grpSpPr>
        <p:sp>
          <p:nvSpPr>
            <p:cNvPr id="20" name="Text 17"/>
            <p:cNvSpPr txBox="1"/>
            <p:nvPr/>
          </p:nvSpPr>
          <p:spPr>
            <a:xfrm>
              <a:off x="4892040" y="224028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E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Results table</a:t>
              </a:r>
              <a:endParaRPr lang="en-US" sz="14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4892040" y="2496312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B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Completed run: P50 / P90 / recommended order</a:t>
              </a:r>
              <a:endParaRPr lang="en-US" sz="1100" dirty="0"/>
            </a:p>
          </p:txBody>
        </p:sp>
      </p:grpSp>
      <p:sp>
        <p:nvSpPr>
          <p:cNvPr id="22" name="Text 19"/>
          <p:cNvSpPr txBox="1"/>
          <p:nvPr/>
        </p:nvSpPr>
        <p:spPr>
          <a:xfrm>
            <a:off x="4754880" y="4014129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 </a:t>
            </a: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saved, each with model version, policy and input reference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64D11D0-6833-9A7D-8152-76AB47DD22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44"/>
          <a:stretch>
            <a:fillRect/>
          </a:stretch>
        </p:blipFill>
        <p:spPr>
          <a:xfrm>
            <a:off x="4686959" y="2267712"/>
            <a:ext cx="4023360" cy="2500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51D14C8-AF2C-0198-2DE3-A360B9A2BE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00"/>
          <a:stretch>
            <a:fillRect/>
          </a:stretch>
        </p:blipFill>
        <p:spPr>
          <a:xfrm>
            <a:off x="433683" y="2281428"/>
            <a:ext cx="4023360" cy="24505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4 · PERSISTED OUTPUT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is saved; inventory is untouched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chip-pending"/>
          <p:cNvSpPr/>
          <p:nvPr/>
        </p:nvSpPr>
        <p:spPr>
          <a:xfrm>
            <a:off x="457200" y="1280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pending_review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chip-approved"/>
          <p:cNvSpPr/>
          <p:nvPr/>
        </p:nvSpPr>
        <p:spPr>
          <a:xfrm>
            <a:off x="2834640" y="1280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83464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1" name="chip-modified"/>
          <p:cNvSpPr/>
          <p:nvPr/>
        </p:nvSpPr>
        <p:spPr>
          <a:xfrm>
            <a:off x="4297680" y="1280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2976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modified</a:t>
            </a:r>
            <a:endParaRPr lang="en-US" sz="1200" dirty="0"/>
          </a:p>
        </p:txBody>
      </p:sp>
      <p:sp>
        <p:nvSpPr>
          <p:cNvPr id="13" name="chip-rejected"/>
          <p:cNvSpPr/>
          <p:nvPr/>
        </p:nvSpPr>
        <p:spPr>
          <a:xfrm>
            <a:off x="5760720" y="1280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5" name="chip-resolved"/>
          <p:cNvSpPr/>
          <p:nvPr/>
        </p:nvSpPr>
        <p:spPr>
          <a:xfrm>
            <a:off x="7223760" y="1280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22376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7510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the decision, reviewer label and time. Reorder cases: approve / modify / reject. Unusual-demand-only: resolve. A review never changes stock or places an order.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" y="2167939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case + review form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709160" y="2169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reload: decision persisted</a:t>
            </a:r>
            <a:endParaRPr lang="en-US" sz="14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577C4F1-C443-5658-C285-2B007F44A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152" y="952384"/>
            <a:ext cx="4919870" cy="1117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5 · OPERATIONAL SIGNAL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8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see what the system is doing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8832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/health/ready: database reachable and worker heartbeat under 30 s 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/health/ready: versioned model loaded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carries Request, Run, Job and Case IDs — one filter shows the whole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acceptance: 175 correlated API, worker and AI events, checked through pagination and export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query snapshot keeps pages stable; NDJSON export returns the full match set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38832" y="38633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2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yet: </a:t>
            </a: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endpoint, automated alerting, availability target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076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DE742F-B1A6-1B96-A7D1-935D9D67C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16"/>
          <a:stretch>
            <a:fillRect/>
          </a:stretch>
        </p:blipFill>
        <p:spPr>
          <a:xfrm>
            <a:off x="4394087" y="2403534"/>
            <a:ext cx="4572000" cy="2195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 11"/>
          <p:cNvSpPr txBox="1"/>
          <p:nvPr/>
        </p:nvSpPr>
        <p:spPr>
          <a:xfrm>
            <a:off x="5675243" y="2671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Page Timeline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works, what is partial, what is not built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28016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E8F5EE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in English and 简体中文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API: ingest, runs, results, review, logs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importer with source-hash check; SQLite persistence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worker + private LightGBM service (s001-global-q-v1)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filters, stable pagination, NDJSON export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3246120" y="128016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DF3DC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8288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adapter and migrations exist; demo runs on SQLite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logs only collectable on a shared filesystem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heartbeat exist; no metrics or alerts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fallback deployed; full cloud acceptance not recorded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035040" y="128016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BE9E7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8288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multi-store analysis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verified reviewer identity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and stale-claim recovery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auto-purchasing, ERP / checkout integration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retention, backup and recovery policy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what we do about them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stops after claiming a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can stay “processing”; no retry or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lease, retry and stale-claim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quality unproven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are a demand proxy; lead times simulated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against temporal baselines; no savings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label is not a verified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access control and verified reviewer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log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container logs not collected by the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shared logging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data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consecutive days; cutoff from 2023-09-01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Reject, never zero-fill; document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core: </a:t>
            </a: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Daily analysis, one store, snapshot → forecast → review.  </a:t>
            </a:r>
            <a:r>
              <a:rPr lang="en-US" sz="1300" b="1" dirty="0">
                <a:solidFill>
                  <a:srgbClr val="B2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first if needed: </a:t>
            </a: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UI features and deployment 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from Week 7 to Week 13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F.I.X. · Group 5 · Week 7 milestone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lan0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53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local demo evidence: health, a completed Run, results, review, correlated logs, code revision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lan1"/>
          <p:cNvSpPr/>
          <p:nvPr/>
        </p:nvSpPr>
        <p:spPr>
          <a:xfrm>
            <a:off x="4800600" y="152704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006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353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workflow from a clean checkout on the standard ports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lan2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943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450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forecast quality against temporal baselines; assess the unusual-demand rule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lan3"/>
          <p:cNvSpPr/>
          <p:nvPr/>
        </p:nvSpPr>
        <p:spPr>
          <a:xfrm>
            <a:off x="4800600" y="262432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8006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450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integration and hosted-service acceptance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lan4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3547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verified reviewer, safe worker recovery, shared AI log collection, backup and retention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lan5"/>
          <p:cNvSpPr/>
          <p:nvPr/>
        </p:nvSpPr>
        <p:spPr>
          <a:xfrm>
            <a:off x="4800600" y="3721608"/>
            <a:ext cx="457200" cy="45720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006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3547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analysis, only after Daily is stable</a:t>
            </a:r>
            <a:endParaRPr lang="en-US" sz="13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 from the tag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path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37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20 S001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run Daily Analysis for 2023-11-15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Run and Job to completed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exception, submit a review, reload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inventory unchanged; filter task logs by Run ID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127.0.0.1:5174/FIX_dashboard/#/analysis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fixdashboard-production.up.railway.app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600" dirty="0"/>
          </a:p>
        </p:txBody>
      </p:sp>
      <p:sp>
        <p:nvSpPr>
          <p:cNvPr id="10" name="repro-box"/>
          <p:cNvSpPr/>
          <p:nvPr/>
        </p:nvSpPr>
        <p:spPr>
          <a:xfrm>
            <a:off x="4663440" y="173736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1B2D52"/>
          </a:solidFill>
          <a:ln w="12700">
            <a:solidFill>
              <a:srgbClr val="1B2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00600" y="1828800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https://github.com/ShawnZhang0318/FIX_dashboard.git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w07-midterm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-3.12 -m venv .venv-model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.\.venv-model\Scripts\python.exe -m pip install -r ai/requirements-dev.txt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$env:VITE_BASE_PATH = "/FIX_dashboard/"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.\scripts\start-local-demo.ps1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.\.venv-model\Scripts\python.exe -m local_backend.import_csv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OpenAI Codex was used to inspect code and docs, start the local demo services and draft the milestone summary.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 Week7">
  <a:themeElements>
    <a:clrScheme name="FIX Week7">
      <a:dk1>
        <a:srgbClr val="0F1E3C"/>
      </a:dk1>
      <a:lt1>
        <a:srgbClr val="FFFFFF"/>
      </a:lt1>
      <a:dk2>
        <a:srgbClr val="1B2638"/>
      </a:dk2>
      <a:lt2>
        <a:srgbClr val="F4F6FA"/>
      </a:lt2>
      <a:accent1>
        <a:srgbClr val="C9A227"/>
      </a:accent1>
      <a:accent2>
        <a:srgbClr val="2F6FBF"/>
      </a:accent2>
      <a:accent3>
        <a:srgbClr val="2E8B57"/>
      </a:accent3>
      <a:accent4>
        <a:srgbClr val="D98E04"/>
      </a:accent4>
      <a:accent5>
        <a:srgbClr val="C0392B"/>
      </a:accent5>
      <a:accent6>
        <a:srgbClr val="5B6B85"/>
      </a:accent6>
      <a:hlink>
        <a:srgbClr val="2F6FBF"/>
      </a:hlink>
      <a:folHlink>
        <a:srgbClr val="5B6B85"/>
      </a:folHlink>
    </a:clrScheme>
    <a:fontScheme name="FIX Week7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1562</Words>
  <Application>Microsoft Macintosh PowerPoint</Application>
  <PresentationFormat>On-screen Show (16:9)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FIX Week7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F.I.X. – Week 7 Midterm Milestone</dc:title>
  <dc:subject>PptxGenJS Presentation</dc:subject>
  <dc:creator>PptxGenJS</dc:creator>
  <cp:lastModifiedBy>SHAH Pooja Zenit</cp:lastModifiedBy>
  <cp:revision>5</cp:revision>
  <dcterms:created xsi:type="dcterms:W3CDTF">2026-10-30T18:00:42Z</dcterms:created>
  <dcterms:modified xsi:type="dcterms:W3CDTF">2026-10-31T07:58:11Z</dcterms:modified>
</cp:coreProperties>
</file>